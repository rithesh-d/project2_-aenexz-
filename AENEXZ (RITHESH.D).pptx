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61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61475" y="1397298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Heart Disease Prediction Using Machine Learning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3311128"/>
            <a:ext cx="10868745" cy="214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Internship By</a:t>
            </a:r>
            <a:r>
              <a:rPr lang="en-US" sz="18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: AENEXZ</a:t>
            </a:r>
            <a:endParaRPr lang="en-US" sz="18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Presented By: </a:t>
            </a:r>
            <a:r>
              <a:rPr lang="en-US" sz="18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Rithesh D</a:t>
            </a:r>
            <a:endParaRPr lang="en-US" sz="18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Department: </a:t>
            </a:r>
            <a:r>
              <a:rPr lang="en-US" sz="18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Science and Data Analysis</a:t>
            </a:r>
            <a:endParaRPr lang="en-US" sz="18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Technology Used: </a:t>
            </a:r>
            <a:r>
              <a:rPr lang="en-US" sz="18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Python, Machine Learning, Streamlit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12403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Heart Disease Prediction Using Machine Learning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3360" y="1857871"/>
            <a:ext cx="629686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Heart disease is one of the leading causes of death worldwide. Machine Learning helps analyze medical data and predict heart disease risk at an early stage — enabling faster, smarter, and more accurate clinical decisions.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33360" y="2721570"/>
            <a:ext cx="3095250" cy="1608832"/>
          </a:xfrm>
          <a:prstGeom prst="roundRect">
            <a:avLst>
              <a:gd name="adj" fmla="val 370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81391" y="2869605"/>
            <a:ext cx="425241" cy="425252"/>
          </a:xfrm>
          <a:prstGeom prst="roundRect">
            <a:avLst>
              <a:gd name="adj" fmla="val 17917011"/>
            </a:avLst>
          </a:prstGeom>
          <a:solidFill>
            <a:srgbClr val="5E4CE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8367" y="2986484"/>
            <a:ext cx="191289" cy="1912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81391" y="3401120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Early Diagnosis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381391" y="3686274"/>
            <a:ext cx="279918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 risk before symptoms escalate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434871" y="2721570"/>
            <a:ext cx="3095349" cy="1608832"/>
          </a:xfrm>
          <a:prstGeom prst="roundRect">
            <a:avLst>
              <a:gd name="adj" fmla="val 370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82902" y="2869605"/>
            <a:ext cx="425241" cy="425252"/>
          </a:xfrm>
          <a:prstGeom prst="roundRect">
            <a:avLst>
              <a:gd name="adj" fmla="val 17917011"/>
            </a:avLst>
          </a:prstGeom>
          <a:solidFill>
            <a:srgbClr val="5E4CE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9878" y="2986484"/>
            <a:ext cx="191289" cy="1912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82902" y="3401120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Faster Decisions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582902" y="3686274"/>
            <a:ext cx="279928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Accelerate clinical decision-making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233360" y="4436666"/>
            <a:ext cx="3095250" cy="1608832"/>
          </a:xfrm>
          <a:prstGeom prst="roundRect">
            <a:avLst>
              <a:gd name="adj" fmla="val 370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81391" y="4584700"/>
            <a:ext cx="425241" cy="425252"/>
          </a:xfrm>
          <a:prstGeom prst="roundRect">
            <a:avLst>
              <a:gd name="adj" fmla="val 17917011"/>
            </a:avLst>
          </a:prstGeom>
          <a:solidFill>
            <a:srgbClr val="5E4CE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8367" y="4701580"/>
            <a:ext cx="191289" cy="1912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81391" y="5116215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Healthcare Support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381391" y="5401370"/>
            <a:ext cx="279918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Improved support for medical professionals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434871" y="4436666"/>
            <a:ext cx="3095349" cy="1608832"/>
          </a:xfrm>
          <a:prstGeom prst="roundRect">
            <a:avLst>
              <a:gd name="adj" fmla="val 370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582902" y="4584700"/>
            <a:ext cx="425241" cy="425252"/>
          </a:xfrm>
          <a:prstGeom prst="roundRect">
            <a:avLst>
              <a:gd name="adj" fmla="val 17917011"/>
            </a:avLst>
          </a:prstGeom>
          <a:solidFill>
            <a:srgbClr val="5E4CE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99878" y="4701580"/>
            <a:ext cx="191289" cy="1912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82902" y="5116215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Reduced Risk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8582902" y="5401370"/>
            <a:ext cx="2799288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Lower medical risk through proactive care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151"/>
            <a:ext cx="415359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Aim and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59381" y="1205607"/>
            <a:ext cx="3222644" cy="5049242"/>
          </a:xfrm>
          <a:prstGeom prst="roundRect">
            <a:avLst>
              <a:gd name="adj" fmla="val 3167"/>
            </a:avLst>
          </a:prstGeom>
          <a:solidFill>
            <a:srgbClr val="5E4CE6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1062" y="1311870"/>
            <a:ext cx="23815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Our Aim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1062" y="1639590"/>
            <a:ext cx="2939282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 compare multiple Machine Learning algorithms and identify the most effective model for heart disease prediction.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32149" y="1311870"/>
            <a:ext cx="23815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Objectives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32149" y="1652885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32149" y="1874738"/>
            <a:ext cx="7504322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9" name="Text 7"/>
          <p:cNvSpPr/>
          <p:nvPr/>
        </p:nvSpPr>
        <p:spPr>
          <a:xfrm>
            <a:off x="4032149" y="1983680"/>
            <a:ext cx="28832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Analyze the Heart Disease Dataset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32149" y="2417663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32149" y="2639516"/>
            <a:ext cx="7504322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2" name="Text 10"/>
          <p:cNvSpPr/>
          <p:nvPr/>
        </p:nvSpPr>
        <p:spPr>
          <a:xfrm>
            <a:off x="4032149" y="2748459"/>
            <a:ext cx="37612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Perform data preprocessing and visualization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32149" y="3182441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32149" y="3404295"/>
            <a:ext cx="7504322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5" name="Text 13"/>
          <p:cNvSpPr/>
          <p:nvPr/>
        </p:nvSpPr>
        <p:spPr>
          <a:xfrm>
            <a:off x="4032149" y="3513237"/>
            <a:ext cx="45312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Implement Logistic Regression, KNN, and Decision Tree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32149" y="394722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32149" y="4169073"/>
            <a:ext cx="7504322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8" name="Text 16"/>
          <p:cNvSpPr/>
          <p:nvPr/>
        </p:nvSpPr>
        <p:spPr>
          <a:xfrm>
            <a:off x="4032149" y="4278015"/>
            <a:ext cx="26652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Compare Accuracy and F1-Score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032149" y="471199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32149" y="4933851"/>
            <a:ext cx="7504322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1" name="Text 19"/>
          <p:cNvSpPr/>
          <p:nvPr/>
        </p:nvSpPr>
        <p:spPr>
          <a:xfrm>
            <a:off x="4032149" y="5042793"/>
            <a:ext cx="27875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Select the best-performing model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032149" y="5476776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32149" y="5698629"/>
            <a:ext cx="7504322" cy="1905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4" name="Text 22"/>
          <p:cNvSpPr/>
          <p:nvPr/>
        </p:nvSpPr>
        <p:spPr>
          <a:xfrm>
            <a:off x="4032149" y="5807571"/>
            <a:ext cx="29893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Develop a Streamlit web application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3427"/>
            <a:ext cx="415359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Description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249065"/>
            <a:ext cx="2109040" cy="243681"/>
          </a:xfrm>
          <a:prstGeom prst="roundRect">
            <a:avLst>
              <a:gd name="adj" fmla="val 19547"/>
            </a:avLst>
          </a:prstGeom>
          <a:solidFill>
            <a:srgbClr val="D7D2F9"/>
          </a:solidFill>
          <a:ln/>
        </p:spPr>
      </p:sp>
      <p:sp>
        <p:nvSpPr>
          <p:cNvPr id="4" name="Text 2"/>
          <p:cNvSpPr/>
          <p:nvPr/>
        </p:nvSpPr>
        <p:spPr>
          <a:xfrm>
            <a:off x="746503" y="1291530"/>
            <a:ext cx="2548568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KAGGLE HEART DISEASE DATASET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61475" y="1914922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Features Used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2300188"/>
            <a:ext cx="2596589" cy="11452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9354" y="2460923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Age &amp; Gender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79354" y="2788642"/>
            <a:ext cx="219893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Demographic indicators of patient profile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6225" y="2300188"/>
            <a:ext cx="2596688" cy="11452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3154" y="2460923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Chest Pain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563154" y="2788642"/>
            <a:ext cx="219902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Type and severity of chest pain reported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551734"/>
            <a:ext cx="2596589" cy="11452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9354" y="3712468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Blood Pressure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79354" y="4040188"/>
            <a:ext cx="219893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Resting blood pressure measurement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6225" y="3551734"/>
            <a:ext cx="2596688" cy="11452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63154" y="3712468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Cholesterol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3563154" y="4040188"/>
            <a:ext cx="219902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Serum cholesterol level in mg/dl</a:t>
            </a:r>
            <a:endParaRPr lang="en-US" sz="13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4803279"/>
            <a:ext cx="2596589" cy="11452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9354" y="4964013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Heart Rate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79354" y="5291733"/>
            <a:ext cx="219893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Maximum heart rate achieved</a:t>
            </a:r>
            <a:endParaRPr lang="en-US" sz="13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6225" y="4803279"/>
            <a:ext cx="2596688" cy="114528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563154" y="4964013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Exercise Chest Pain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3563154" y="5291733"/>
            <a:ext cx="219902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Chest pain induced by exercise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275131" y="1718568"/>
            <a:ext cx="23815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Target Variable</a:t>
            </a:r>
            <a:endParaRPr lang="en-US" sz="13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836" y="2059583"/>
            <a:ext cx="3946029" cy="2959596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275131" y="5138738"/>
            <a:ext cx="5261439" cy="1006277"/>
          </a:xfrm>
          <a:prstGeom prst="roundRect">
            <a:avLst>
              <a:gd name="adj" fmla="val 5917"/>
            </a:avLst>
          </a:prstGeom>
          <a:solidFill>
            <a:srgbClr val="B6D6FC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812" y="5298877"/>
            <a:ext cx="221451" cy="17720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779944" y="5269805"/>
            <a:ext cx="461494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target variable is binary — making this a classic supervised classification problem suitable for Logistic Regression, KNN, and Decision Tree models.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0201" y="499170"/>
            <a:ext cx="3489138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 Preprocessing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030" y="999331"/>
            <a:ext cx="7059634" cy="30443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1095" y="3466342"/>
            <a:ext cx="1601580" cy="200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Train-Test Split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041095" y="2761629"/>
            <a:ext cx="1601580" cy="200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 Select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041095" y="2064034"/>
            <a:ext cx="1601580" cy="200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Check Missing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041095" y="1359321"/>
            <a:ext cx="1601580" cy="200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Load Dataset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0201" y="4122539"/>
            <a:ext cx="11560878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step ensures the data is clean, relevant, and properly divided before feeding into machine learning models.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0201" y="4456906"/>
            <a:ext cx="204931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Train-Test Split Code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0201" y="4715669"/>
            <a:ext cx="5335156" cy="1564283"/>
          </a:xfrm>
          <a:prstGeom prst="roundRect">
            <a:avLst>
              <a:gd name="adj" fmla="val 3093"/>
            </a:avLst>
          </a:prstGeom>
          <a:solidFill>
            <a:srgbClr val="EDEDED"/>
          </a:solidFill>
          <a:ln/>
        </p:spPr>
      </p:sp>
      <p:sp>
        <p:nvSpPr>
          <p:cNvPr id="11" name="Shape 8"/>
          <p:cNvSpPr/>
          <p:nvPr/>
        </p:nvSpPr>
        <p:spPr>
          <a:xfrm>
            <a:off x="614446" y="4715669"/>
            <a:ext cx="5346665" cy="1564283"/>
          </a:xfrm>
          <a:prstGeom prst="roundRect">
            <a:avLst>
              <a:gd name="adj" fmla="val 1104"/>
            </a:avLst>
          </a:prstGeom>
          <a:solidFill>
            <a:srgbClr val="EDEDED"/>
          </a:solidFill>
          <a:ln/>
        </p:spPr>
      </p:sp>
      <p:sp>
        <p:nvSpPr>
          <p:cNvPr id="12" name="Text 9"/>
          <p:cNvSpPr/>
          <p:nvPr/>
        </p:nvSpPr>
        <p:spPr>
          <a:xfrm>
            <a:off x="758409" y="4830762"/>
            <a:ext cx="5058740" cy="1334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pd.read_csv("heart.csv")</a:t>
            </a: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</a:t>
            </a: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test_size=0.2,</a:t>
            </a: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9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42688" y="4456906"/>
            <a:ext cx="223841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Preprocessing Summary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42688" y="4715669"/>
            <a:ext cx="2632505" cy="678259"/>
          </a:xfrm>
          <a:prstGeom prst="roundRect">
            <a:avLst>
              <a:gd name="adj" fmla="val 713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077" y="4837113"/>
            <a:ext cx="143972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80%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64128" y="5087144"/>
            <a:ext cx="2389624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45339" y="4715669"/>
            <a:ext cx="2632505" cy="678259"/>
          </a:xfrm>
          <a:prstGeom prst="roundRect">
            <a:avLst>
              <a:gd name="adj" fmla="val 7133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41728" y="4837113"/>
            <a:ext cx="143972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66779" y="5087144"/>
            <a:ext cx="2389624" cy="18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Testing data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42688" y="5472807"/>
            <a:ext cx="5335156" cy="554434"/>
          </a:xfrm>
          <a:prstGeom prst="roundRect">
            <a:avLst>
              <a:gd name="adj" fmla="val 8725"/>
            </a:avLst>
          </a:prstGeom>
          <a:solidFill>
            <a:srgbClr val="B6FCB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778" y="5578376"/>
            <a:ext cx="179879" cy="14396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652748" y="5564684"/>
            <a:ext cx="4810005" cy="370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missing values were found in the Kaggle Heart Disease Dataset, simplifying the preprocessing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306"/>
            <a:ext cx="4959722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Exploratory Data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27944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Performed Exploratory Data Analysis to understand data patterns and feature relationships within the Heart Disease Dataset.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79" y="1815108"/>
            <a:ext cx="3946029" cy="2959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82" y="4894263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heart disease distribution 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131" y="1815108"/>
            <a:ext cx="3946029" cy="29595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70339" y="4894263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correction heatmap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61475" y="5307905"/>
            <a:ext cx="10868745" cy="758230"/>
          </a:xfrm>
          <a:prstGeom prst="roundRect">
            <a:avLst>
              <a:gd name="adj" fmla="val 7853"/>
            </a:avLst>
          </a:prstGeom>
          <a:solidFill>
            <a:srgbClr val="C3BCF6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56" y="5468045"/>
            <a:ext cx="221451" cy="1772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66287" y="5438973"/>
            <a:ext cx="1022225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Observation: Features such as </a:t>
            </a:r>
            <a:r>
              <a:rPr lang="en-US" sz="135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Chest Pain</a:t>
            </a:r>
            <a:r>
              <a:rPr lang="en-US" sz="13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35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Cholesterol</a:t>
            </a:r>
            <a:r>
              <a:rPr lang="en-US" sz="13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and </a:t>
            </a:r>
            <a:r>
              <a:rPr lang="en-US" sz="135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Heart Rate</a:t>
            </a:r>
            <a:r>
              <a:rPr lang="en-US" sz="13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show significant impact on prediction outcomes and are among the strongest correlating variables in the dataset.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357"/>
            <a:ext cx="415359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Logistic Regression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31813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Logistic Regression is used for binary classification problems — making it a natural fit for predicting the presence or absence of heart disease.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2053729"/>
            <a:ext cx="23815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Advantages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94744"/>
            <a:ext cx="354401" cy="3544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882007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Simple &amp; Efficient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61475" y="3209727"/>
            <a:ext cx="526143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Minimal computational overhead with strong baseline performance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70399"/>
            <a:ext cx="354401" cy="3544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1475" y="4157662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Fast Training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61475" y="4485382"/>
            <a:ext cx="526143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Converges quickly even on larger datasets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946055"/>
            <a:ext cx="354401" cy="3544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5433318"/>
            <a:ext cx="177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Easy Interpretation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61475" y="5761038"/>
            <a:ext cx="526143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Coefficients directly indicate feature importance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75131" y="2043113"/>
            <a:ext cx="587102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Implementation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75131" y="2410718"/>
            <a:ext cx="5261439" cy="1473994"/>
          </a:xfrm>
          <a:prstGeom prst="roundRect">
            <a:avLst>
              <a:gd name="adj" fmla="val 4039"/>
            </a:avLst>
          </a:prstGeom>
          <a:solidFill>
            <a:srgbClr val="EDEDED"/>
          </a:solidFill>
          <a:ln/>
        </p:spPr>
      </p:sp>
      <p:sp>
        <p:nvSpPr>
          <p:cNvPr id="16" name="Shape 11"/>
          <p:cNvSpPr/>
          <p:nvPr/>
        </p:nvSpPr>
        <p:spPr>
          <a:xfrm>
            <a:off x="6268087" y="2410718"/>
            <a:ext cx="5275527" cy="1473994"/>
          </a:xfrm>
          <a:prstGeom prst="roundRect">
            <a:avLst>
              <a:gd name="adj" fmla="val 1443"/>
            </a:avLst>
          </a:prstGeom>
          <a:solidFill>
            <a:srgbClr val="EDEDED"/>
          </a:solidFill>
          <a:ln/>
        </p:spPr>
      </p:sp>
      <p:sp>
        <p:nvSpPr>
          <p:cNvPr id="17" name="Text 12"/>
          <p:cNvSpPr/>
          <p:nvPr/>
        </p:nvSpPr>
        <p:spPr>
          <a:xfrm>
            <a:off x="6445287" y="2552402"/>
            <a:ext cx="492112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LogisticRegression()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lr.fit(X_train, y_train)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lr.predict(X_test)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685"/>
            <a:ext cx="610249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K-Nearest Neighbors (KNN)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21891"/>
            <a:ext cx="10868745" cy="64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KNN algorithm classifies data based on the nearest neighboring records in the feature space — a non-parametric, instance-based learning approach.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293541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Advantages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61475" y="2731492"/>
            <a:ext cx="5226911" cy="1443335"/>
          </a:xfrm>
          <a:prstGeom prst="roundRect">
            <a:avLst>
              <a:gd name="adj" fmla="val 4950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581" y="2920603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Easy to Implement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0581" y="3339405"/>
            <a:ext cx="4848699" cy="64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explicit training phase required — the model memorizes the training data directly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61475" y="4327922"/>
            <a:ext cx="5226911" cy="1443335"/>
          </a:xfrm>
          <a:prstGeom prst="roundRect">
            <a:avLst>
              <a:gd name="adj" fmla="val 4950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581" y="4517033"/>
            <a:ext cx="28091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Effective for Small Datasets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50581" y="4935835"/>
            <a:ext cx="4848699" cy="64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Performs well when the dataset is compact and well-structured like the Heart Disease Dataset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09659" y="2293541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Implementation (k=5)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309659" y="2731492"/>
            <a:ext cx="5226911" cy="1891506"/>
          </a:xfrm>
          <a:prstGeom prst="roundRect">
            <a:avLst>
              <a:gd name="adj" fmla="val 3777"/>
            </a:avLst>
          </a:prstGeom>
          <a:solidFill>
            <a:srgbClr val="EDEDED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1225" y="2731492"/>
            <a:ext cx="5243778" cy="1891506"/>
          </a:xfrm>
          <a:prstGeom prst="roundRect">
            <a:avLst>
              <a:gd name="adj" fmla="val 1349"/>
            </a:avLst>
          </a:prstGeom>
          <a:solidFill>
            <a:srgbClr val="ED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6513846" y="2901553"/>
            <a:ext cx="4818537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KNeighborsClassifier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 = KNeighborsClassifier(n_neighbors=5)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knn.fit(X_train, y_train)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knn.predict(X_test)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659" y="4795242"/>
            <a:ext cx="5226911" cy="1329829"/>
          </a:xfrm>
          <a:prstGeom prst="roundRect">
            <a:avLst>
              <a:gd name="adj" fmla="val 5373"/>
            </a:avLst>
          </a:prstGeom>
          <a:solidFill>
            <a:srgbClr val="B6D6FC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715" y="5017889"/>
            <a:ext cx="265800" cy="21262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15572" y="4975423"/>
            <a:ext cx="4450941" cy="969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value </a:t>
            </a:r>
            <a:r>
              <a:rPr lang="en-US" sz="165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n_neighbors=5</a:t>
            </a:r>
            <a:r>
              <a:rPr lang="en-US" sz="16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means the algorithm considers the 5 closest data points when making a classification decision.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610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Decision Tree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49462"/>
            <a:ext cx="1086874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Decision Tree algorithm uses a series of decision rules derived from the training data to classify patient records into heart disease or no heart disease categories.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050752"/>
            <a:ext cx="24997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Advantages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423021"/>
            <a:ext cx="2564443" cy="2063353"/>
          </a:xfrm>
          <a:prstGeom prst="roundRect">
            <a:avLst>
              <a:gd name="adj" fmla="val 3078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030" y="2580580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5E4CE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745" y="2705298"/>
            <a:ext cx="204088" cy="2040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9030" y="3155156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Easy Visualization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9030" y="3512344"/>
            <a:ext cx="2249332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Tree structure can be plotted and inspected directly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346862" y="2423021"/>
            <a:ext cx="2564542" cy="2063353"/>
          </a:xfrm>
          <a:prstGeom prst="roundRect">
            <a:avLst>
              <a:gd name="adj" fmla="val 3078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4418" y="2580580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5E4CE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9133" y="2705298"/>
            <a:ext cx="204088" cy="2040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4418" y="3155156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High Interpretability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04418" y="3512344"/>
            <a:ext cx="2249431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Decision rules are human-readable and explainable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61475" y="4607322"/>
            <a:ext cx="5249930" cy="1519039"/>
          </a:xfrm>
          <a:prstGeom prst="roundRect">
            <a:avLst>
              <a:gd name="adj" fmla="val 4181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9030" y="4764881"/>
            <a:ext cx="453617" cy="453628"/>
          </a:xfrm>
          <a:prstGeom prst="roundRect">
            <a:avLst>
              <a:gd name="adj" fmla="val 16796212"/>
            </a:avLst>
          </a:prstGeom>
          <a:solidFill>
            <a:srgbClr val="5E4CE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3745" y="4889599"/>
            <a:ext cx="204088" cy="2040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9030" y="5339457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Good Prediction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19030" y="5696645"/>
            <a:ext cx="49348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Strong performance on structured tabular data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286640" y="2050752"/>
            <a:ext cx="24997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286640" y="2423021"/>
            <a:ext cx="5249930" cy="1608534"/>
          </a:xfrm>
          <a:prstGeom prst="roundRect">
            <a:avLst>
              <a:gd name="adj" fmla="val 3948"/>
            </a:avLst>
          </a:prstGeom>
          <a:solidFill>
            <a:srgbClr val="EDEDED"/>
          </a:solidFill>
          <a:ln/>
        </p:spPr>
      </p:sp>
      <p:sp>
        <p:nvSpPr>
          <p:cNvPr id="22" name="Shape 17"/>
          <p:cNvSpPr/>
          <p:nvPr/>
        </p:nvSpPr>
        <p:spPr>
          <a:xfrm>
            <a:off x="6279100" y="2423021"/>
            <a:ext cx="5265010" cy="1608534"/>
          </a:xfrm>
          <a:prstGeom prst="roundRect">
            <a:avLst>
              <a:gd name="adj" fmla="val 1410"/>
            </a:avLst>
          </a:prstGeom>
          <a:solidFill>
            <a:srgbClr val="EDEDED"/>
          </a:solidFill>
          <a:ln/>
        </p:spPr>
      </p:sp>
      <p:sp>
        <p:nvSpPr>
          <p:cNvPr id="23" name="Text 18"/>
          <p:cNvSpPr/>
          <p:nvPr/>
        </p:nvSpPr>
        <p:spPr>
          <a:xfrm>
            <a:off x="6468107" y="2574230"/>
            <a:ext cx="4886996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dt = DecisionTreeClassifier()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dt.fit(X_train, y_train)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2863A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dt.predict(X_test)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838" y="526752"/>
            <a:ext cx="419595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Performance Comparison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097" y="1095276"/>
            <a:ext cx="3451337" cy="2588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6045" y="3768030"/>
            <a:ext cx="591944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Accuracy Comparison of Algorithms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610" y="1095276"/>
            <a:ext cx="3451337" cy="25885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558" y="3768030"/>
            <a:ext cx="591944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desicion time Confusion Matrix 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838" y="4102993"/>
            <a:ext cx="209733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Results Summary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40838" y="4401443"/>
            <a:ext cx="10910019" cy="1179215"/>
          </a:xfrm>
          <a:prstGeom prst="roundRect">
            <a:avLst>
              <a:gd name="adj" fmla="val 423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7239" y="4459089"/>
            <a:ext cx="400020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Algorithm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402127" y="4459089"/>
            <a:ext cx="3997027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Accuracy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033839" y="4459089"/>
            <a:ext cx="4000201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F1 Score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67239" y="4723209"/>
            <a:ext cx="4000201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402127" y="4723209"/>
            <a:ext cx="3997027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0.795122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033839" y="4723209"/>
            <a:ext cx="4000201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0.810811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67239" y="5026124"/>
            <a:ext cx="4000201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K-Nearest Neighbors (KNN)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402127" y="5026124"/>
            <a:ext cx="3997027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0.731707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033839" y="5026124"/>
            <a:ext cx="4000201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0.734300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67239" y="5329039"/>
            <a:ext cx="4000201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402127" y="5329039"/>
            <a:ext cx="3997027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0.985366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033839" y="5329039"/>
            <a:ext cx="4000201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0.985222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0838" y="5664895"/>
            <a:ext cx="10910019" cy="582017"/>
          </a:xfrm>
          <a:prstGeom prst="roundRect">
            <a:avLst>
              <a:gd name="adj" fmla="val 8589"/>
            </a:avLst>
          </a:prstGeom>
          <a:solidFill>
            <a:srgbClr val="B6FCB8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98" y="5777805"/>
            <a:ext cx="185931" cy="14872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64690" y="5761930"/>
            <a:ext cx="10367207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Best Model:</a:t>
            </a:r>
            <a:r>
              <a:rPr lang="en-US" sz="11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The algorithm achieving the highest combined Accuracy and F1 Score will be selected as the final model for deployment in the Streamlit web application.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6864"/>
            <a:ext cx="4683008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Streamlit Web Application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077317"/>
            <a:ext cx="313007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Heart Disease Prediction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422896"/>
            <a:ext cx="10868745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Developed a Streamlit-based web application for real-time heart disease prediction — enabling clinicians and users to input patient data and receive instant risk assessments.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81113"/>
            <a:ext cx="3691044" cy="27683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953595"/>
            <a:ext cx="588263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523" y="2081113"/>
            <a:ext cx="3691044" cy="27683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523" y="4953595"/>
            <a:ext cx="588263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61475" y="5321102"/>
            <a:ext cx="10868745" cy="909935"/>
          </a:xfrm>
          <a:prstGeom prst="roundRect">
            <a:avLst>
              <a:gd name="adj" fmla="val 610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67825" y="5327452"/>
            <a:ext cx="3618616" cy="897235"/>
          </a:xfrm>
          <a:prstGeom prst="roundRect">
            <a:avLst>
              <a:gd name="adj" fmla="val 6194"/>
            </a:avLst>
          </a:prstGeom>
          <a:solidFill>
            <a:srgbClr val="E9E6FA"/>
          </a:solidFill>
          <a:ln/>
        </p:spPr>
      </p:sp>
      <p:sp>
        <p:nvSpPr>
          <p:cNvPr id="11" name="Text 7"/>
          <p:cNvSpPr/>
          <p:nvPr/>
        </p:nvSpPr>
        <p:spPr>
          <a:xfrm>
            <a:off x="760393" y="5420023"/>
            <a:ext cx="1822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User-Friendly Interface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60393" y="5682258"/>
            <a:ext cx="329457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Clean, intuitive form for entering patient data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86440" y="5327452"/>
            <a:ext cx="3618715" cy="897235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286440" y="5327452"/>
            <a:ext cx="19050" cy="897235"/>
          </a:xfrm>
          <a:prstGeom prst="roundRect">
            <a:avLst>
              <a:gd name="adj" fmla="val 291714"/>
            </a:avLst>
          </a:prstGeom>
          <a:solidFill>
            <a:srgbClr val="BDB8DF"/>
          </a:solidFill>
          <a:ln/>
        </p:spPr>
      </p:sp>
      <p:sp>
        <p:nvSpPr>
          <p:cNvPr id="15" name="Text 11"/>
          <p:cNvSpPr/>
          <p:nvPr/>
        </p:nvSpPr>
        <p:spPr>
          <a:xfrm>
            <a:off x="4517912" y="5420023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Real-Time Prediction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17912" y="5682258"/>
            <a:ext cx="3155772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Instant results powered by the trained ML model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121146" y="5610671"/>
            <a:ext cx="330688" cy="330696"/>
          </a:xfrm>
          <a:prstGeom prst="roundRect">
            <a:avLst>
              <a:gd name="adj" fmla="val 16805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3793" y="5693321"/>
            <a:ext cx="165294" cy="16529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905155" y="5327452"/>
            <a:ext cx="3618715" cy="897235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905155" y="5327452"/>
            <a:ext cx="19050" cy="897235"/>
          </a:xfrm>
          <a:prstGeom prst="roundRect">
            <a:avLst>
              <a:gd name="adj" fmla="val 291714"/>
            </a:avLst>
          </a:prstGeom>
          <a:solidFill>
            <a:srgbClr val="BDB8DF"/>
          </a:solidFill>
          <a:ln/>
        </p:spPr>
      </p:sp>
      <p:sp>
        <p:nvSpPr>
          <p:cNvPr id="21" name="Text 16"/>
          <p:cNvSpPr/>
          <p:nvPr/>
        </p:nvSpPr>
        <p:spPr>
          <a:xfrm>
            <a:off x="8136627" y="5420023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136627" y="5682258"/>
            <a:ext cx="329467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Streamlit · Python · Scikit-learn ML Model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739861" y="5610671"/>
            <a:ext cx="330688" cy="330696"/>
          </a:xfrm>
          <a:prstGeom prst="roundRect">
            <a:avLst>
              <a:gd name="adj" fmla="val 16805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2508" y="5693321"/>
            <a:ext cx="165294" cy="1652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7352"/>
            <a:ext cx="565135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Conclusion and Future Scope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31727"/>
            <a:ext cx="1086874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Our project successfully demonstrated the application of machine learning in predicting heart disease, laying a strong foundation for future advancements.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233017"/>
            <a:ext cx="25310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Accomplishments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590205"/>
            <a:ext cx="3002383" cy="316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Analyzed the Heart Disease Dataset comprehensively</a:t>
            </a:r>
            <a:endParaRPr lang="en-US" sz="11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Implemented Logistic Regression, KNN, and Decision Tree models</a:t>
            </a:r>
            <a:endParaRPr lang="en-US" sz="11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Compared model performance using Accuracy and F1 Score</a:t>
            </a:r>
            <a:endParaRPr lang="en-US" sz="11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Developed a functional Streamlit web application</a:t>
            </a:r>
            <a:endParaRPr lang="en-US" sz="11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Selected the best-performing model for deployment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39094" y="2233017"/>
            <a:ext cx="286824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Future Scope &amp; Directions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039094" y="2605286"/>
            <a:ext cx="3688166" cy="453628"/>
          </a:xfrm>
          <a:prstGeom prst="roundRect">
            <a:avLst>
              <a:gd name="adj" fmla="val 48001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9724" y="2718594"/>
            <a:ext cx="22680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90300" y="3179862"/>
            <a:ext cx="195981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Deep Learning Models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190300" y="3537049"/>
            <a:ext cx="338575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Explore advanced neural networks for improved accuracy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848205" y="2605286"/>
            <a:ext cx="3688266" cy="453628"/>
          </a:xfrm>
          <a:prstGeom prst="roundRect">
            <a:avLst>
              <a:gd name="adj" fmla="val 48001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8934" y="2718594"/>
            <a:ext cx="22680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99411" y="3179862"/>
            <a:ext cx="3385854" cy="92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Mobile Application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 a mobile app for convenient patient risk assessment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039094" y="4377333"/>
            <a:ext cx="3688166" cy="453628"/>
          </a:xfrm>
          <a:prstGeom prst="roundRect">
            <a:avLst>
              <a:gd name="adj" fmla="val 48001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9724" y="4490641"/>
            <a:ext cx="226808" cy="2268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90300" y="4951909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Hospital Integration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190300" y="5309096"/>
            <a:ext cx="338575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 the model into existing clinical systems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848205" y="4377333"/>
            <a:ext cx="3688266" cy="453628"/>
          </a:xfrm>
          <a:prstGeom prst="roundRect">
            <a:avLst>
              <a:gd name="adj" fmla="val 48001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8934" y="4490641"/>
            <a:ext cx="226808" cy="2268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99411" y="4951909"/>
            <a:ext cx="192449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Real-Time Monitoring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999411" y="5309096"/>
            <a:ext cx="3385854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Enable continuous patient data analysis and alerts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065583" y="2838252"/>
            <a:ext cx="1006043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THANK YOU</a:t>
            </a:r>
            <a:endParaRPr lang="en-US" sz="7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983</Words>
  <Application>Microsoft Office PowerPoint</Application>
  <PresentationFormat>Widescreen</PresentationFormat>
  <Paragraphs>179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Outfit ExtraBold</vt:lpstr>
      <vt:lpstr>Arimo</vt:lpstr>
      <vt:lpstr>Arial</vt:lpstr>
      <vt:lpstr>Outfit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chethan s</cp:lastModifiedBy>
  <cp:revision>2</cp:revision>
  <dcterms:created xsi:type="dcterms:W3CDTF">2026-06-05T04:40:40Z</dcterms:created>
  <dcterms:modified xsi:type="dcterms:W3CDTF">2026-06-05T04:51:45Z</dcterms:modified>
</cp:coreProperties>
</file>